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68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9BF475-D4D0-4C2E-97B1-C8A71C468C62}" v="2" dt="2026-09-29T20:27:14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9"/>
    <p:restoredTop sz="94733"/>
  </p:normalViewPr>
  <p:slideViewPr>
    <p:cSldViewPr snapToGrid="0">
      <p:cViewPr>
        <p:scale>
          <a:sx n="126" d="100"/>
          <a:sy n="126" d="100"/>
        </p:scale>
        <p:origin x="3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ishma Katta" userId="a12f859255399185" providerId="Windows Live" clId="Web-{629BF475-D4D0-4C2E-97B1-C8A71C468C62}"/>
    <pc:docChg chg="modSld">
      <pc:chgData name="Charishma Katta" userId="a12f859255399185" providerId="Windows Live" clId="Web-{629BF475-D4D0-4C2E-97B1-C8A71C468C62}" dt="2026-09-29T20:27:14.765" v="1" actId="20577"/>
      <pc:docMkLst>
        <pc:docMk/>
      </pc:docMkLst>
      <pc:sldChg chg="modSp">
        <pc:chgData name="Charishma Katta" userId="a12f859255399185" providerId="Windows Live" clId="Web-{629BF475-D4D0-4C2E-97B1-C8A71C468C62}" dt="2026-09-29T20:27:14.765" v="1" actId="20577"/>
        <pc:sldMkLst>
          <pc:docMk/>
          <pc:sldMk cId="4117644004" sldId="256"/>
        </pc:sldMkLst>
        <pc:spChg chg="mod">
          <ac:chgData name="Charishma Katta" userId="a12f859255399185" providerId="Windows Live" clId="Web-{629BF475-D4D0-4C2E-97B1-C8A71C468C62}" dt="2026-09-29T20:27:14.765" v="1" actId="20577"/>
          <ac:spMkLst>
            <pc:docMk/>
            <pc:sldMk cId="4117644004" sldId="256"/>
            <ac:spMk id="3" creationId="{9ED6D33B-121F-3D43-3DE5-10EC329BA97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7B7EED-E81F-4F5F-B742-8059C81B42D5}" type="doc">
      <dgm:prSet loTypeId="urn:microsoft.com/office/officeart/2005/8/layout/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1BAB5A0-2E61-4270-A0C9-D70FD26DFD65}">
      <dgm:prSet/>
      <dgm:spPr/>
      <dgm:t>
        <a:bodyPr/>
        <a:lstStyle/>
        <a:p>
          <a:r>
            <a:rPr lang="en-US" b="1"/>
            <a:t>Interactive Dashboards:</a:t>
          </a:r>
          <a:r>
            <a:rPr lang="en-US"/>
            <a:t> Connect the data to </a:t>
          </a:r>
          <a:r>
            <a:rPr lang="en-US" b="1"/>
            <a:t>Amazon QuickSight</a:t>
          </a:r>
          <a:r>
            <a:rPr lang="en-US"/>
            <a:t> to create visual "Crime Heat Maps" and charts that city officials can use to spot trends instantly.</a:t>
          </a:r>
        </a:p>
      </dgm:t>
    </dgm:pt>
    <dgm:pt modelId="{11E1555A-485C-452F-828C-6E7D7065CFA8}" type="parTrans" cxnId="{5D477B72-B47D-444C-8853-188B748F2425}">
      <dgm:prSet/>
      <dgm:spPr/>
      <dgm:t>
        <a:bodyPr/>
        <a:lstStyle/>
        <a:p>
          <a:endParaRPr lang="en-US"/>
        </a:p>
      </dgm:t>
    </dgm:pt>
    <dgm:pt modelId="{1282C47A-3756-466B-A21A-C4069F223573}" type="sibTrans" cxnId="{5D477B72-B47D-444C-8853-188B748F2425}">
      <dgm:prSet/>
      <dgm:spPr/>
      <dgm:t>
        <a:bodyPr/>
        <a:lstStyle/>
        <a:p>
          <a:endParaRPr lang="en-US"/>
        </a:p>
      </dgm:t>
    </dgm:pt>
    <dgm:pt modelId="{5D81873C-978A-47E2-AE62-59FBA3FA85D0}">
      <dgm:prSet/>
      <dgm:spPr/>
      <dgm:t>
        <a:bodyPr/>
        <a:lstStyle/>
        <a:p>
          <a:r>
            <a:rPr lang="en-US" b="1"/>
            <a:t>Predictive Policing:</a:t>
          </a:r>
          <a:r>
            <a:rPr lang="en-US"/>
            <a:t> Use </a:t>
          </a:r>
          <a:r>
            <a:rPr lang="en-US" b="1"/>
            <a:t>Amazon SageMaker (AI/ML)</a:t>
          </a:r>
          <a:r>
            <a:rPr lang="en-US"/>
            <a:t> to predict where crimes are likely to happen next based on historical locations and times.</a:t>
          </a:r>
        </a:p>
      </dgm:t>
    </dgm:pt>
    <dgm:pt modelId="{8FFEB2F5-47D5-4138-87F6-B2DD22625447}" type="parTrans" cxnId="{A6D09B82-2936-4A02-B4AA-59375B2CC1B6}">
      <dgm:prSet/>
      <dgm:spPr/>
      <dgm:t>
        <a:bodyPr/>
        <a:lstStyle/>
        <a:p>
          <a:endParaRPr lang="en-US"/>
        </a:p>
      </dgm:t>
    </dgm:pt>
    <dgm:pt modelId="{FFBDB362-354F-4DE4-B347-B182596B7042}" type="sibTrans" cxnId="{A6D09B82-2936-4A02-B4AA-59375B2CC1B6}">
      <dgm:prSet/>
      <dgm:spPr/>
      <dgm:t>
        <a:bodyPr/>
        <a:lstStyle/>
        <a:p>
          <a:endParaRPr lang="en-US"/>
        </a:p>
      </dgm:t>
    </dgm:pt>
    <dgm:pt modelId="{31BB6C64-1446-4A9A-91E6-3487243DFFF2}">
      <dgm:prSet/>
      <dgm:spPr/>
      <dgm:t>
        <a:bodyPr/>
        <a:lstStyle/>
        <a:p>
          <a:r>
            <a:rPr lang="en-US" b="1"/>
            <a:t>Real-Time Updates:</a:t>
          </a:r>
          <a:r>
            <a:rPr lang="en-US"/>
            <a:t> Set up </a:t>
          </a:r>
          <a:r>
            <a:rPr lang="en-US" b="1"/>
            <a:t>AWS Lambda</a:t>
          </a:r>
          <a:r>
            <a:rPr lang="en-US"/>
            <a:t> to automatically update our analysis the second a new crime report is uploaded, moving from "monthly" to "live" data.</a:t>
          </a:r>
        </a:p>
      </dgm:t>
    </dgm:pt>
    <dgm:pt modelId="{8D7D088E-FB1E-4982-8E87-B3BE79035262}" type="parTrans" cxnId="{230A42C9-87D1-4AA7-A117-A24B70C7E08B}">
      <dgm:prSet/>
      <dgm:spPr/>
      <dgm:t>
        <a:bodyPr/>
        <a:lstStyle/>
        <a:p>
          <a:endParaRPr lang="en-US"/>
        </a:p>
      </dgm:t>
    </dgm:pt>
    <dgm:pt modelId="{68E0C260-2AC0-48A4-BF19-C648A085951C}" type="sibTrans" cxnId="{230A42C9-87D1-4AA7-A117-A24B70C7E08B}">
      <dgm:prSet/>
      <dgm:spPr/>
      <dgm:t>
        <a:bodyPr/>
        <a:lstStyle/>
        <a:p>
          <a:endParaRPr lang="en-US"/>
        </a:p>
      </dgm:t>
    </dgm:pt>
    <dgm:pt modelId="{A5E64422-4E2C-478A-B8EF-4A57197D3BA3}">
      <dgm:prSet/>
      <dgm:spPr/>
      <dgm:t>
        <a:bodyPr/>
        <a:lstStyle/>
        <a:p>
          <a:r>
            <a:rPr lang="en-US" b="1"/>
            <a:t>Cost Optimization:</a:t>
          </a:r>
          <a:r>
            <a:rPr lang="en-US"/>
            <a:t> Organize the data into "folders" by Year or District (called </a:t>
          </a:r>
          <a:r>
            <a:rPr lang="en-US" b="1"/>
            <a:t>Partitioning</a:t>
          </a:r>
          <a:r>
            <a:rPr lang="en-US"/>
            <a:t>). This makes queries run 80% faster and reduces AWS costs.</a:t>
          </a:r>
        </a:p>
      </dgm:t>
    </dgm:pt>
    <dgm:pt modelId="{2EB9699C-9684-4850-B47D-B4A4B714B051}" type="parTrans" cxnId="{180ECB83-7885-4973-82A7-BA8FDCB43CD4}">
      <dgm:prSet/>
      <dgm:spPr/>
      <dgm:t>
        <a:bodyPr/>
        <a:lstStyle/>
        <a:p>
          <a:endParaRPr lang="en-US"/>
        </a:p>
      </dgm:t>
    </dgm:pt>
    <dgm:pt modelId="{2822A7CB-5AF4-49E0-9CC1-7F286056596D}" type="sibTrans" cxnId="{180ECB83-7885-4973-82A7-BA8FDCB43CD4}">
      <dgm:prSet/>
      <dgm:spPr/>
      <dgm:t>
        <a:bodyPr/>
        <a:lstStyle/>
        <a:p>
          <a:endParaRPr lang="en-US"/>
        </a:p>
      </dgm:t>
    </dgm:pt>
    <dgm:pt modelId="{F82A01E8-A161-4641-B7B1-9C99695CC0E2}">
      <dgm:prSet/>
      <dgm:spPr/>
      <dgm:t>
        <a:bodyPr/>
        <a:lstStyle/>
        <a:p>
          <a:r>
            <a:rPr lang="en-US" b="1"/>
            <a:t>Mobile Alerts:</a:t>
          </a:r>
          <a:r>
            <a:rPr lang="en-US"/>
            <a:t> Create an automated system to send mobile notifications to district commanders when crime rates in their area spike above a certain threshold.</a:t>
          </a:r>
        </a:p>
      </dgm:t>
    </dgm:pt>
    <dgm:pt modelId="{72553EBF-02AD-43BD-B630-2D56E65EB226}" type="parTrans" cxnId="{17DC9AAF-1EB0-4245-9584-EBB9CA6659C0}">
      <dgm:prSet/>
      <dgm:spPr/>
      <dgm:t>
        <a:bodyPr/>
        <a:lstStyle/>
        <a:p>
          <a:endParaRPr lang="en-US"/>
        </a:p>
      </dgm:t>
    </dgm:pt>
    <dgm:pt modelId="{D2C861DA-CDC5-4978-8B97-2A03BD9C5346}" type="sibTrans" cxnId="{17DC9AAF-1EB0-4245-9584-EBB9CA6659C0}">
      <dgm:prSet/>
      <dgm:spPr/>
      <dgm:t>
        <a:bodyPr/>
        <a:lstStyle/>
        <a:p>
          <a:endParaRPr lang="en-US"/>
        </a:p>
      </dgm:t>
    </dgm:pt>
    <dgm:pt modelId="{D9EF5749-3489-AC40-BDCD-191B7BB16CE8}" type="pres">
      <dgm:prSet presAssocID="{F17B7EED-E81F-4F5F-B742-8059C81B42D5}" presName="diagram" presStyleCnt="0">
        <dgm:presLayoutVars>
          <dgm:dir/>
          <dgm:resizeHandles val="exact"/>
        </dgm:presLayoutVars>
      </dgm:prSet>
      <dgm:spPr/>
    </dgm:pt>
    <dgm:pt modelId="{6550F43A-8AD7-1A47-AA72-6E7BD841FAC5}" type="pres">
      <dgm:prSet presAssocID="{81BAB5A0-2E61-4270-A0C9-D70FD26DFD65}" presName="node" presStyleLbl="node1" presStyleIdx="0" presStyleCnt="5">
        <dgm:presLayoutVars>
          <dgm:bulletEnabled val="1"/>
        </dgm:presLayoutVars>
      </dgm:prSet>
      <dgm:spPr/>
    </dgm:pt>
    <dgm:pt modelId="{2D9C45EE-4E12-D847-8E7C-93E94EFB86B8}" type="pres">
      <dgm:prSet presAssocID="{1282C47A-3756-466B-A21A-C4069F223573}" presName="sibTrans" presStyleLbl="sibTrans2D1" presStyleIdx="0" presStyleCnt="4"/>
      <dgm:spPr/>
    </dgm:pt>
    <dgm:pt modelId="{EDFB8B7D-E3BF-194B-840E-7937DCEFDCDC}" type="pres">
      <dgm:prSet presAssocID="{1282C47A-3756-466B-A21A-C4069F223573}" presName="connectorText" presStyleLbl="sibTrans2D1" presStyleIdx="0" presStyleCnt="4"/>
      <dgm:spPr/>
    </dgm:pt>
    <dgm:pt modelId="{59EE9A90-0A37-1C49-BBD6-DA405161C052}" type="pres">
      <dgm:prSet presAssocID="{5D81873C-978A-47E2-AE62-59FBA3FA85D0}" presName="node" presStyleLbl="node1" presStyleIdx="1" presStyleCnt="5">
        <dgm:presLayoutVars>
          <dgm:bulletEnabled val="1"/>
        </dgm:presLayoutVars>
      </dgm:prSet>
      <dgm:spPr/>
    </dgm:pt>
    <dgm:pt modelId="{2C456809-6821-024B-8FF0-48BEB8A997B7}" type="pres">
      <dgm:prSet presAssocID="{FFBDB362-354F-4DE4-B347-B182596B7042}" presName="sibTrans" presStyleLbl="sibTrans2D1" presStyleIdx="1" presStyleCnt="4"/>
      <dgm:spPr/>
    </dgm:pt>
    <dgm:pt modelId="{591EAEFF-5C45-9D4C-B765-F1BB5E6D9C0F}" type="pres">
      <dgm:prSet presAssocID="{FFBDB362-354F-4DE4-B347-B182596B7042}" presName="connectorText" presStyleLbl="sibTrans2D1" presStyleIdx="1" presStyleCnt="4"/>
      <dgm:spPr/>
    </dgm:pt>
    <dgm:pt modelId="{F366C420-8C45-4247-95CF-E3EE7C7D1A8D}" type="pres">
      <dgm:prSet presAssocID="{31BB6C64-1446-4A9A-91E6-3487243DFFF2}" presName="node" presStyleLbl="node1" presStyleIdx="2" presStyleCnt="5">
        <dgm:presLayoutVars>
          <dgm:bulletEnabled val="1"/>
        </dgm:presLayoutVars>
      </dgm:prSet>
      <dgm:spPr/>
    </dgm:pt>
    <dgm:pt modelId="{45B23969-5BED-2649-88F1-F355FC9FFE45}" type="pres">
      <dgm:prSet presAssocID="{68E0C260-2AC0-48A4-BF19-C648A085951C}" presName="sibTrans" presStyleLbl="sibTrans2D1" presStyleIdx="2" presStyleCnt="4"/>
      <dgm:spPr/>
    </dgm:pt>
    <dgm:pt modelId="{6FFCCC66-DF43-6045-A47D-248D6158F053}" type="pres">
      <dgm:prSet presAssocID="{68E0C260-2AC0-48A4-BF19-C648A085951C}" presName="connectorText" presStyleLbl="sibTrans2D1" presStyleIdx="2" presStyleCnt="4"/>
      <dgm:spPr/>
    </dgm:pt>
    <dgm:pt modelId="{9F767EF4-0F4A-A044-9F85-EC7D6FB3973A}" type="pres">
      <dgm:prSet presAssocID="{A5E64422-4E2C-478A-B8EF-4A57197D3BA3}" presName="node" presStyleLbl="node1" presStyleIdx="3" presStyleCnt="5">
        <dgm:presLayoutVars>
          <dgm:bulletEnabled val="1"/>
        </dgm:presLayoutVars>
      </dgm:prSet>
      <dgm:spPr/>
    </dgm:pt>
    <dgm:pt modelId="{0848DA95-ACC5-A249-A37D-54E840AE7FDE}" type="pres">
      <dgm:prSet presAssocID="{2822A7CB-5AF4-49E0-9CC1-7F286056596D}" presName="sibTrans" presStyleLbl="sibTrans2D1" presStyleIdx="3" presStyleCnt="4"/>
      <dgm:spPr/>
    </dgm:pt>
    <dgm:pt modelId="{5CAFD551-523D-B142-8769-E8E4CB172544}" type="pres">
      <dgm:prSet presAssocID="{2822A7CB-5AF4-49E0-9CC1-7F286056596D}" presName="connectorText" presStyleLbl="sibTrans2D1" presStyleIdx="3" presStyleCnt="4"/>
      <dgm:spPr/>
    </dgm:pt>
    <dgm:pt modelId="{B14506EB-BDBF-B54D-9407-FE7E0B9BF917}" type="pres">
      <dgm:prSet presAssocID="{F82A01E8-A161-4641-B7B1-9C99695CC0E2}" presName="node" presStyleLbl="node1" presStyleIdx="4" presStyleCnt="5">
        <dgm:presLayoutVars>
          <dgm:bulletEnabled val="1"/>
        </dgm:presLayoutVars>
      </dgm:prSet>
      <dgm:spPr/>
    </dgm:pt>
  </dgm:ptLst>
  <dgm:cxnLst>
    <dgm:cxn modelId="{DB9CC005-98B5-3344-A49E-339C895AC871}" type="presOf" srcId="{F82A01E8-A161-4641-B7B1-9C99695CC0E2}" destId="{B14506EB-BDBF-B54D-9407-FE7E0B9BF917}" srcOrd="0" destOrd="0" presId="urn:microsoft.com/office/officeart/2005/8/layout/process5"/>
    <dgm:cxn modelId="{41E88E0F-CC9C-8747-9F7A-506110624B09}" type="presOf" srcId="{5D81873C-978A-47E2-AE62-59FBA3FA85D0}" destId="{59EE9A90-0A37-1C49-BBD6-DA405161C052}" srcOrd="0" destOrd="0" presId="urn:microsoft.com/office/officeart/2005/8/layout/process5"/>
    <dgm:cxn modelId="{A60C8733-F4BF-4543-874C-1BE2CAFC37C6}" type="presOf" srcId="{68E0C260-2AC0-48A4-BF19-C648A085951C}" destId="{45B23969-5BED-2649-88F1-F355FC9FFE45}" srcOrd="0" destOrd="0" presId="urn:microsoft.com/office/officeart/2005/8/layout/process5"/>
    <dgm:cxn modelId="{DC851339-93EA-A443-B190-6DD6072341AF}" type="presOf" srcId="{81BAB5A0-2E61-4270-A0C9-D70FD26DFD65}" destId="{6550F43A-8AD7-1A47-AA72-6E7BD841FAC5}" srcOrd="0" destOrd="0" presId="urn:microsoft.com/office/officeart/2005/8/layout/process5"/>
    <dgm:cxn modelId="{8952905E-306B-2D45-98E8-FBDC47A3A7AE}" type="presOf" srcId="{FFBDB362-354F-4DE4-B347-B182596B7042}" destId="{2C456809-6821-024B-8FF0-48BEB8A997B7}" srcOrd="0" destOrd="0" presId="urn:microsoft.com/office/officeart/2005/8/layout/process5"/>
    <dgm:cxn modelId="{6262CC4A-B35D-D948-8700-D9098D505080}" type="presOf" srcId="{68E0C260-2AC0-48A4-BF19-C648A085951C}" destId="{6FFCCC66-DF43-6045-A47D-248D6158F053}" srcOrd="1" destOrd="0" presId="urn:microsoft.com/office/officeart/2005/8/layout/process5"/>
    <dgm:cxn modelId="{C9A56A72-AF74-894C-81DA-A9B887E6008D}" type="presOf" srcId="{1282C47A-3756-466B-A21A-C4069F223573}" destId="{EDFB8B7D-E3BF-194B-840E-7937DCEFDCDC}" srcOrd="1" destOrd="0" presId="urn:microsoft.com/office/officeart/2005/8/layout/process5"/>
    <dgm:cxn modelId="{5D477B72-B47D-444C-8853-188B748F2425}" srcId="{F17B7EED-E81F-4F5F-B742-8059C81B42D5}" destId="{81BAB5A0-2E61-4270-A0C9-D70FD26DFD65}" srcOrd="0" destOrd="0" parTransId="{11E1555A-485C-452F-828C-6E7D7065CFA8}" sibTransId="{1282C47A-3756-466B-A21A-C4069F223573}"/>
    <dgm:cxn modelId="{96CCF379-21BE-1B46-8651-B337E1673008}" type="presOf" srcId="{2822A7CB-5AF4-49E0-9CC1-7F286056596D}" destId="{5CAFD551-523D-B142-8769-E8E4CB172544}" srcOrd="1" destOrd="0" presId="urn:microsoft.com/office/officeart/2005/8/layout/process5"/>
    <dgm:cxn modelId="{04C8E07C-813B-9244-B3FC-8F1FB861ACD0}" type="presOf" srcId="{31BB6C64-1446-4A9A-91E6-3487243DFFF2}" destId="{F366C420-8C45-4247-95CF-E3EE7C7D1A8D}" srcOrd="0" destOrd="0" presId="urn:microsoft.com/office/officeart/2005/8/layout/process5"/>
    <dgm:cxn modelId="{A6D09B82-2936-4A02-B4AA-59375B2CC1B6}" srcId="{F17B7EED-E81F-4F5F-B742-8059C81B42D5}" destId="{5D81873C-978A-47E2-AE62-59FBA3FA85D0}" srcOrd="1" destOrd="0" parTransId="{8FFEB2F5-47D5-4138-87F6-B2DD22625447}" sibTransId="{FFBDB362-354F-4DE4-B347-B182596B7042}"/>
    <dgm:cxn modelId="{180ECB83-7885-4973-82A7-BA8FDCB43CD4}" srcId="{F17B7EED-E81F-4F5F-B742-8059C81B42D5}" destId="{A5E64422-4E2C-478A-B8EF-4A57197D3BA3}" srcOrd="3" destOrd="0" parTransId="{2EB9699C-9684-4850-B47D-B4A4B714B051}" sibTransId="{2822A7CB-5AF4-49E0-9CC1-7F286056596D}"/>
    <dgm:cxn modelId="{E9484791-A6AA-2D4E-987C-5894396E1C84}" type="presOf" srcId="{2822A7CB-5AF4-49E0-9CC1-7F286056596D}" destId="{0848DA95-ACC5-A249-A37D-54E840AE7FDE}" srcOrd="0" destOrd="0" presId="urn:microsoft.com/office/officeart/2005/8/layout/process5"/>
    <dgm:cxn modelId="{BC238C9D-A97E-524D-B5B4-55B8994C709F}" type="presOf" srcId="{1282C47A-3756-466B-A21A-C4069F223573}" destId="{2D9C45EE-4E12-D847-8E7C-93E94EFB86B8}" srcOrd="0" destOrd="0" presId="urn:microsoft.com/office/officeart/2005/8/layout/process5"/>
    <dgm:cxn modelId="{17DC9AAF-1EB0-4245-9584-EBB9CA6659C0}" srcId="{F17B7EED-E81F-4F5F-B742-8059C81B42D5}" destId="{F82A01E8-A161-4641-B7B1-9C99695CC0E2}" srcOrd="4" destOrd="0" parTransId="{72553EBF-02AD-43BD-B630-2D56E65EB226}" sibTransId="{D2C861DA-CDC5-4978-8B97-2A03BD9C5346}"/>
    <dgm:cxn modelId="{A5824BB5-B541-834B-9491-6FCDC6B90CAD}" type="presOf" srcId="{FFBDB362-354F-4DE4-B347-B182596B7042}" destId="{591EAEFF-5C45-9D4C-B765-F1BB5E6D9C0F}" srcOrd="1" destOrd="0" presId="urn:microsoft.com/office/officeart/2005/8/layout/process5"/>
    <dgm:cxn modelId="{C2D2EDC3-CB4A-354C-9CF9-701125515E9A}" type="presOf" srcId="{F17B7EED-E81F-4F5F-B742-8059C81B42D5}" destId="{D9EF5749-3489-AC40-BDCD-191B7BB16CE8}" srcOrd="0" destOrd="0" presId="urn:microsoft.com/office/officeart/2005/8/layout/process5"/>
    <dgm:cxn modelId="{230A42C9-87D1-4AA7-A117-A24B70C7E08B}" srcId="{F17B7EED-E81F-4F5F-B742-8059C81B42D5}" destId="{31BB6C64-1446-4A9A-91E6-3487243DFFF2}" srcOrd="2" destOrd="0" parTransId="{8D7D088E-FB1E-4982-8E87-B3BE79035262}" sibTransId="{68E0C260-2AC0-48A4-BF19-C648A085951C}"/>
    <dgm:cxn modelId="{CAEE21CA-4254-8246-9727-8D378D4DDF9A}" type="presOf" srcId="{A5E64422-4E2C-478A-B8EF-4A57197D3BA3}" destId="{9F767EF4-0F4A-A044-9F85-EC7D6FB3973A}" srcOrd="0" destOrd="0" presId="urn:microsoft.com/office/officeart/2005/8/layout/process5"/>
    <dgm:cxn modelId="{B8A32EF0-8E18-B641-A3C8-B42A751EDF97}" type="presParOf" srcId="{D9EF5749-3489-AC40-BDCD-191B7BB16CE8}" destId="{6550F43A-8AD7-1A47-AA72-6E7BD841FAC5}" srcOrd="0" destOrd="0" presId="urn:microsoft.com/office/officeart/2005/8/layout/process5"/>
    <dgm:cxn modelId="{CE5A7BD7-5F23-FA40-BBB0-FD4F4E397222}" type="presParOf" srcId="{D9EF5749-3489-AC40-BDCD-191B7BB16CE8}" destId="{2D9C45EE-4E12-D847-8E7C-93E94EFB86B8}" srcOrd="1" destOrd="0" presId="urn:microsoft.com/office/officeart/2005/8/layout/process5"/>
    <dgm:cxn modelId="{23C63B74-CB70-544C-9476-832D8BB28309}" type="presParOf" srcId="{2D9C45EE-4E12-D847-8E7C-93E94EFB86B8}" destId="{EDFB8B7D-E3BF-194B-840E-7937DCEFDCDC}" srcOrd="0" destOrd="0" presId="urn:microsoft.com/office/officeart/2005/8/layout/process5"/>
    <dgm:cxn modelId="{83BDFA44-B4FE-B442-8937-2B5E4CF0AD60}" type="presParOf" srcId="{D9EF5749-3489-AC40-BDCD-191B7BB16CE8}" destId="{59EE9A90-0A37-1C49-BBD6-DA405161C052}" srcOrd="2" destOrd="0" presId="urn:microsoft.com/office/officeart/2005/8/layout/process5"/>
    <dgm:cxn modelId="{995DEE44-3CFD-DD45-AA10-4948574BFBF9}" type="presParOf" srcId="{D9EF5749-3489-AC40-BDCD-191B7BB16CE8}" destId="{2C456809-6821-024B-8FF0-48BEB8A997B7}" srcOrd="3" destOrd="0" presId="urn:microsoft.com/office/officeart/2005/8/layout/process5"/>
    <dgm:cxn modelId="{9B28C53B-13DF-AF45-A681-5254F6A1D5A1}" type="presParOf" srcId="{2C456809-6821-024B-8FF0-48BEB8A997B7}" destId="{591EAEFF-5C45-9D4C-B765-F1BB5E6D9C0F}" srcOrd="0" destOrd="0" presId="urn:microsoft.com/office/officeart/2005/8/layout/process5"/>
    <dgm:cxn modelId="{2B4D0982-ECF6-604C-97DF-E76955622848}" type="presParOf" srcId="{D9EF5749-3489-AC40-BDCD-191B7BB16CE8}" destId="{F366C420-8C45-4247-95CF-E3EE7C7D1A8D}" srcOrd="4" destOrd="0" presId="urn:microsoft.com/office/officeart/2005/8/layout/process5"/>
    <dgm:cxn modelId="{F73936C0-3CDE-3240-94C1-78899DF38DAF}" type="presParOf" srcId="{D9EF5749-3489-AC40-BDCD-191B7BB16CE8}" destId="{45B23969-5BED-2649-88F1-F355FC9FFE45}" srcOrd="5" destOrd="0" presId="urn:microsoft.com/office/officeart/2005/8/layout/process5"/>
    <dgm:cxn modelId="{0B86AAF3-B6BE-544C-987F-3EDBA7587CE5}" type="presParOf" srcId="{45B23969-5BED-2649-88F1-F355FC9FFE45}" destId="{6FFCCC66-DF43-6045-A47D-248D6158F053}" srcOrd="0" destOrd="0" presId="urn:microsoft.com/office/officeart/2005/8/layout/process5"/>
    <dgm:cxn modelId="{D91FCA29-8968-7242-A115-AF90A10DB5BB}" type="presParOf" srcId="{D9EF5749-3489-AC40-BDCD-191B7BB16CE8}" destId="{9F767EF4-0F4A-A044-9F85-EC7D6FB3973A}" srcOrd="6" destOrd="0" presId="urn:microsoft.com/office/officeart/2005/8/layout/process5"/>
    <dgm:cxn modelId="{CC9451EC-A169-D044-9C9E-601F66788F50}" type="presParOf" srcId="{D9EF5749-3489-AC40-BDCD-191B7BB16CE8}" destId="{0848DA95-ACC5-A249-A37D-54E840AE7FDE}" srcOrd="7" destOrd="0" presId="urn:microsoft.com/office/officeart/2005/8/layout/process5"/>
    <dgm:cxn modelId="{6FDD7E89-82B8-F344-8FE5-E4796556CF13}" type="presParOf" srcId="{0848DA95-ACC5-A249-A37D-54E840AE7FDE}" destId="{5CAFD551-523D-B142-8769-E8E4CB172544}" srcOrd="0" destOrd="0" presId="urn:microsoft.com/office/officeart/2005/8/layout/process5"/>
    <dgm:cxn modelId="{BC865746-FA20-3B45-8EE2-0DAFD4D0DC19}" type="presParOf" srcId="{D9EF5749-3489-AC40-BDCD-191B7BB16CE8}" destId="{B14506EB-BDBF-B54D-9407-FE7E0B9BF91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0F43A-8AD7-1A47-AA72-6E7BD841FAC5}">
      <dsp:nvSpPr>
        <dsp:cNvPr id="0" name=""/>
        <dsp:cNvSpPr/>
      </dsp:nvSpPr>
      <dsp:spPr>
        <a:xfrm>
          <a:off x="97043" y="2718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Interactive Dashboards:</a:t>
          </a:r>
          <a:r>
            <a:rPr lang="en-US" sz="1400" kern="1200"/>
            <a:t> Connect the data to </a:t>
          </a:r>
          <a:r>
            <a:rPr lang="en-US" sz="1400" b="1" kern="1200"/>
            <a:t>Amazon QuickSight</a:t>
          </a:r>
          <a:r>
            <a:rPr lang="en-US" sz="1400" kern="1200"/>
            <a:t> to create visual "Crime Heat Maps" and charts that city officials can use to spot trends instantly.</a:t>
          </a:r>
        </a:p>
      </dsp:txBody>
      <dsp:txXfrm>
        <a:off x="144776" y="50451"/>
        <a:ext cx="2620721" cy="1534246"/>
      </dsp:txXfrm>
    </dsp:sp>
    <dsp:sp modelId="{2D9C45EE-4E12-D847-8E7C-93E94EFB86B8}">
      <dsp:nvSpPr>
        <dsp:cNvPr id="0" name=""/>
        <dsp:cNvSpPr/>
      </dsp:nvSpPr>
      <dsp:spPr>
        <a:xfrm>
          <a:off x="3052255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052255" y="615490"/>
        <a:ext cx="403082" cy="404168"/>
      </dsp:txXfrm>
    </dsp:sp>
    <dsp:sp modelId="{59EE9A90-0A37-1C49-BBD6-DA405161C052}">
      <dsp:nvSpPr>
        <dsp:cNvPr id="0" name=""/>
        <dsp:cNvSpPr/>
      </dsp:nvSpPr>
      <dsp:spPr>
        <a:xfrm>
          <a:off x="3899706" y="2718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Predictive Policing:</a:t>
          </a:r>
          <a:r>
            <a:rPr lang="en-US" sz="1400" kern="1200"/>
            <a:t> Use </a:t>
          </a:r>
          <a:r>
            <a:rPr lang="en-US" sz="1400" b="1" kern="1200"/>
            <a:t>Amazon SageMaker (AI/ML)</a:t>
          </a:r>
          <a:r>
            <a:rPr lang="en-US" sz="1400" kern="1200"/>
            <a:t> to predict where crimes are likely to happen next based on historical locations and times.</a:t>
          </a:r>
        </a:p>
      </dsp:txBody>
      <dsp:txXfrm>
        <a:off x="3947439" y="50451"/>
        <a:ext cx="2620721" cy="1534246"/>
      </dsp:txXfrm>
    </dsp:sp>
    <dsp:sp modelId="{2C456809-6821-024B-8FF0-48BEB8A997B7}">
      <dsp:nvSpPr>
        <dsp:cNvPr id="0" name=""/>
        <dsp:cNvSpPr/>
      </dsp:nvSpPr>
      <dsp:spPr>
        <a:xfrm>
          <a:off x="6854918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854918" y="615490"/>
        <a:ext cx="403082" cy="404168"/>
      </dsp:txXfrm>
    </dsp:sp>
    <dsp:sp modelId="{F366C420-8C45-4247-95CF-E3EE7C7D1A8D}">
      <dsp:nvSpPr>
        <dsp:cNvPr id="0" name=""/>
        <dsp:cNvSpPr/>
      </dsp:nvSpPr>
      <dsp:spPr>
        <a:xfrm>
          <a:off x="7702368" y="2718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Real-Time Updates:</a:t>
          </a:r>
          <a:r>
            <a:rPr lang="en-US" sz="1400" kern="1200"/>
            <a:t> Set up </a:t>
          </a:r>
          <a:r>
            <a:rPr lang="en-US" sz="1400" b="1" kern="1200"/>
            <a:t>AWS Lambda</a:t>
          </a:r>
          <a:r>
            <a:rPr lang="en-US" sz="1400" kern="1200"/>
            <a:t> to automatically update our analysis the second a new crime report is uploaded, moving from "monthly" to "live" data.</a:t>
          </a:r>
        </a:p>
      </dsp:txBody>
      <dsp:txXfrm>
        <a:off x="7750101" y="50451"/>
        <a:ext cx="2620721" cy="1534246"/>
      </dsp:txXfrm>
    </dsp:sp>
    <dsp:sp modelId="{45B23969-5BED-2649-88F1-F355FC9FFE45}">
      <dsp:nvSpPr>
        <dsp:cNvPr id="0" name=""/>
        <dsp:cNvSpPr/>
      </dsp:nvSpPr>
      <dsp:spPr>
        <a:xfrm rot="5400000">
          <a:off x="8772546" y="1822564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8858378" y="1871456"/>
        <a:ext cx="404168" cy="403082"/>
      </dsp:txXfrm>
    </dsp:sp>
    <dsp:sp modelId="{9F767EF4-0F4A-A044-9F85-EC7D6FB3973A}">
      <dsp:nvSpPr>
        <dsp:cNvPr id="0" name=""/>
        <dsp:cNvSpPr/>
      </dsp:nvSpPr>
      <dsp:spPr>
        <a:xfrm>
          <a:off x="7702368" y="2718906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Cost Optimization:</a:t>
          </a:r>
          <a:r>
            <a:rPr lang="en-US" sz="1400" kern="1200"/>
            <a:t> Organize the data into "folders" by Year or District (called </a:t>
          </a:r>
          <a:r>
            <a:rPr lang="en-US" sz="1400" b="1" kern="1200"/>
            <a:t>Partitioning</a:t>
          </a:r>
          <a:r>
            <a:rPr lang="en-US" sz="1400" kern="1200"/>
            <a:t>). This makes queries run 80% faster and reduces AWS costs.</a:t>
          </a:r>
        </a:p>
      </dsp:txBody>
      <dsp:txXfrm>
        <a:off x="7750101" y="2766639"/>
        <a:ext cx="2620721" cy="1534246"/>
      </dsp:txXfrm>
    </dsp:sp>
    <dsp:sp modelId="{0848DA95-ACC5-A249-A37D-54E840AE7FDE}">
      <dsp:nvSpPr>
        <dsp:cNvPr id="0" name=""/>
        <dsp:cNvSpPr/>
      </dsp:nvSpPr>
      <dsp:spPr>
        <a:xfrm rot="10800000">
          <a:off x="6887512" y="3196955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7060261" y="3331678"/>
        <a:ext cx="403082" cy="404168"/>
      </dsp:txXfrm>
    </dsp:sp>
    <dsp:sp modelId="{B14506EB-BDBF-B54D-9407-FE7E0B9BF917}">
      <dsp:nvSpPr>
        <dsp:cNvPr id="0" name=""/>
        <dsp:cNvSpPr/>
      </dsp:nvSpPr>
      <dsp:spPr>
        <a:xfrm>
          <a:off x="3899706" y="2718906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Mobile Alerts:</a:t>
          </a:r>
          <a:r>
            <a:rPr lang="en-US" sz="1400" kern="1200"/>
            <a:t> Create an automated system to send mobile notifications to district commanders when crime rates in their area spike above a certain threshold.</a:t>
          </a:r>
        </a:p>
      </dsp:txBody>
      <dsp:txXfrm>
        <a:off x="3947439" y="2766639"/>
        <a:ext cx="2620721" cy="1534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BED3-EEA6-F327-0A87-B84FB2020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9250F-982E-F6DD-6966-832195448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6D87F-80EE-9C52-FD7A-8C31D87BC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1B05D-B829-31DF-DFB3-9A34A35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F1AB-5505-4465-18B2-30CB531A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6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8655-0381-F331-F4D9-56290948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2280-AA83-96A9-E62C-7BCDCC966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9CEA7-FE5D-B9AC-BF8D-438E2032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E96F7-D6D4-AD73-BBFE-EE51EFE4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42261-2E39-F6AF-504F-A998BF12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35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D773-257C-C4B2-C5B5-EB060E3D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D1EB9-68AE-354D-9A3E-DD332CF7B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830CC-AFBD-70D9-F222-0D116DA0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B7561-F0BF-6430-5C1B-ECEEDECC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01DB2-4111-B559-29CA-07BF033A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9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1BFAC-D206-C8FC-83E8-0F72A8EB6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27222-0BAD-3320-F34E-FC84DFBE3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35A47-ADC9-5C57-6810-6A2B2787B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4E4F1-73AD-9AFE-E044-A479640A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8328-A489-5E8F-A13C-74578CBA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24231-E9F2-4DAD-5348-B8D49DF5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6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4E04B-BFB9-ECC7-F217-7EC7E70E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A2C13-96B1-A7AE-6C95-E6C1284E0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5FCF3-91F0-5C5D-C46F-7FC54AF5A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66C67-17BB-1179-1CF3-3955309A8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3BDBA-457C-807A-1150-AF76AAA4C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15F7BD-3E53-1196-86D5-94D996CC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64CF-4434-098C-F6D1-C9D961DE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A1977-583F-267A-698B-ED60BB91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01CD-2BA4-CF65-4D6F-9A432C99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1FDD3-67A7-B1A0-4731-0DD9EA64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516E7-91C5-52F1-5482-453AA213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D6365-3B7A-A87D-EE07-1A1D36DE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8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FAEB2-B01A-494B-4425-097F5CD6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4A324-8FCD-6818-BD72-8B6EC1EB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C2E6B-DFC2-1E53-C46D-BDECC2BE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6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F022-5AB6-61D0-D18B-1311C704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F8A1-8E6C-4541-0C0D-BB2D041E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09586-C817-10F1-0AA3-4C99E700E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ABC2E-A7CB-3321-899E-FC84B2D1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64EAE-E253-F6EC-0170-5FD099FF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ACE29-9F67-28E7-6586-26B772CE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1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F282-CC9A-25F7-A2D8-EA5A04C0D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88C89-288A-2DFE-E4F0-A6D94D4B9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E1B67-D9E3-A45F-48C3-348DB4786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C9681-C7E9-CF35-3CA9-DE9129DA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26C5A-77D4-AA25-E636-980F870F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41BA6-9B8E-04D5-B299-5161FAF8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2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4199-537D-1815-4566-2F7EFA66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06B74-74DF-003F-3289-083CA06F1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B88F-FB99-D1A8-312F-ABF8E505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A014D-F376-C38C-D408-B3B11687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18AC9-B875-E17F-02BB-E95380CE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3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60E6B-1952-5B6C-5E15-11326CCB4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F3D45-9777-C1E9-82A9-A118B983B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12F69-87CD-6E49-2FD2-19124DAC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599E6-6F7D-F4FD-7394-15FE6E6D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2C71B-AD50-34E2-0666-D022B15D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7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87368-4063-FEFB-E7C7-0855FE84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CDA70-5451-010A-9A30-7984C6376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FA5E4-2EEA-0CCA-4DEB-128448E59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DC0C8-87BE-E44D-82EE-A4CC70A687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23F12-5263-E3C5-287C-D602B64BF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C1423-CA12-45D0-FEB3-B3F02D513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B2636-A405-564F-B623-AD15A0CE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3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Stock numbers on a digital display">
            <a:extLst>
              <a:ext uri="{FF2B5EF4-FFF2-40B4-BE49-F238E27FC236}">
                <a16:creationId xmlns:a16="http://schemas.microsoft.com/office/drawing/2014/main" id="{FD853E36-D5D5-BA9F-6D65-E95EB580E4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3434"/>
          <a:stretch>
            <a:fillRect/>
          </a:stretch>
        </p:blipFill>
        <p:spPr>
          <a:xfrm>
            <a:off x="-1" y="32513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FCD7B-BFD8-7D7C-1EC9-89ADC811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7600" dirty="0">
                <a:solidFill>
                  <a:srgbClr val="FFFFFF"/>
                </a:solidFill>
              </a:rPr>
              <a:t>Big Data Analysis of Chicago Crime Records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6D33B-121F-3D43-3DE5-10EC329BA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How effectively  data is analyzed stored and processed using different cloud  based tools.</a:t>
            </a:r>
          </a:p>
          <a:p>
            <a:pPr algn="l"/>
            <a:r>
              <a:rPr lang="en-US" b="1" dirty="0">
                <a:solidFill>
                  <a:srgbClr val="FFFFFF"/>
                </a:solidFill>
              </a:rPr>
              <a:t>BIG DATA AND CLOUD COMPUTING –IT 5613</a:t>
            </a:r>
          </a:p>
          <a:p>
            <a:pPr algn="l"/>
            <a:r>
              <a:rPr lang="en-US" b="1" dirty="0">
                <a:solidFill>
                  <a:srgbClr val="FFFFFF"/>
                </a:solidFill>
              </a:rPr>
              <a:t>Presented by : CHARISHMA KATTA </a:t>
            </a:r>
            <a:br>
              <a:rPr lang="en-US" b="1" dirty="0">
                <a:solidFill>
                  <a:srgbClr val="FFFFFF"/>
                </a:solidFill>
              </a:rPr>
            </a:b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64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BCF7-A343-8CD7-E185-73736507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Storage &amp; The Data Lake Concept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EADE90-2443-C38A-48D6-3CADC69DA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2268" y="1939925"/>
            <a:ext cx="6690864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0ACFA8-9FEA-8416-7AAE-1E8637A0351F}"/>
              </a:ext>
            </a:extLst>
          </p:cNvPr>
          <p:cNvSpPr txBox="1"/>
          <p:nvPr/>
        </p:nvSpPr>
        <p:spPr>
          <a:xfrm>
            <a:off x="425302" y="1690688"/>
            <a:ext cx="41892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S3 is used here because it is </a:t>
            </a:r>
            <a:r>
              <a:rPr lang="en-US" sz="2400" b="1" dirty="0"/>
              <a:t>highly scalable </a:t>
            </a:r>
            <a:r>
              <a:rPr lang="en-US" sz="2400" dirty="0"/>
              <a:t>and it allows for </a:t>
            </a:r>
            <a:r>
              <a:rPr lang="en-US" sz="2400" b="1" dirty="0"/>
              <a:t>Decoupled storage</a:t>
            </a:r>
            <a:r>
              <a:rPr lang="en-US" sz="2400" dirty="0"/>
              <a:t> and compute.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data lake is created here using Amazon S3 and the data csv file  is uploaded into the bucket.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9B6CC-7AB5-2EC7-23C5-8DB359084F80}"/>
              </a:ext>
            </a:extLst>
          </p:cNvPr>
          <p:cNvSpPr txBox="1"/>
          <p:nvPr/>
        </p:nvSpPr>
        <p:spPr>
          <a:xfrm>
            <a:off x="11738610" y="1543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553567-5784-AD4D-2455-F23197974E03}"/>
              </a:ext>
            </a:extLst>
          </p:cNvPr>
          <p:cNvSpPr txBox="1"/>
          <p:nvPr/>
        </p:nvSpPr>
        <p:spPr>
          <a:xfrm>
            <a:off x="457200" y="12458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5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248B-2FF1-3ADC-7BC5-C0082EB1D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Discovery &amp; Automation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21E221-7B6C-0C3D-1A61-D3C3B16E9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1136" y="1690688"/>
            <a:ext cx="6690864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C2B910-3F2E-5483-3E7A-29C904ACD73E}"/>
              </a:ext>
            </a:extLst>
          </p:cNvPr>
          <p:cNvSpPr txBox="1"/>
          <p:nvPr/>
        </p:nvSpPr>
        <p:spPr>
          <a:xfrm>
            <a:off x="701749" y="2062716"/>
            <a:ext cx="44656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the </a:t>
            </a:r>
            <a:r>
              <a:rPr lang="en-US" b="1" dirty="0"/>
              <a:t>Discovery</a:t>
            </a:r>
            <a:r>
              <a:rPr lang="en-US" dirty="0"/>
              <a:t> phase. Glue identifies the column headers and data types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services know how to read the raw file without us having to move the data.</a:t>
            </a:r>
          </a:p>
        </p:txBody>
      </p:sp>
    </p:spTree>
    <p:extLst>
      <p:ext uri="{BB962C8B-B14F-4D97-AF65-F5344CB8AC3E}">
        <p14:creationId xmlns:p14="http://schemas.microsoft.com/office/powerpoint/2010/main" val="139455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C00E-C6CE-2F9C-1998-33DFC9AE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 Real-World Data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E750DD-94C6-C694-6B6C-7E2376A3F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1136" y="1690688"/>
            <a:ext cx="6690864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1CD1D9-3171-1078-CAC7-2BEF6E15706A}"/>
              </a:ext>
            </a:extLst>
          </p:cNvPr>
          <p:cNvSpPr txBox="1"/>
          <p:nvPr/>
        </p:nvSpPr>
        <p:spPr>
          <a:xfrm>
            <a:off x="616688" y="1743740"/>
            <a:ext cx="42742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seen in the screenshot, the initial query returned technical metadata (words like hive, </a:t>
            </a:r>
            <a:r>
              <a:rPr lang="en-US" dirty="0" err="1"/>
              <a:t>bigint</a:t>
            </a:r>
            <a:r>
              <a:rPr lang="en-US" dirty="0"/>
              <a:t>, varchar) instead of crime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Crawler accidentally indexed hidden system files instead of just the CSV.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6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E5F5-CDB4-0AD0-F295-80B2885C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Engineering &amp; Serialization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9058E2-5489-752E-A7E4-D194F595C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9443" y="1690688"/>
            <a:ext cx="669086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6BCD79-9E05-5DE1-EA85-B1A11934CAC5}"/>
              </a:ext>
            </a:extLst>
          </p:cNvPr>
          <p:cNvSpPr txBox="1"/>
          <p:nvPr/>
        </p:nvSpPr>
        <p:spPr>
          <a:xfrm>
            <a:off x="850605" y="1956390"/>
            <a:ext cx="39978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wrote a custom </a:t>
            </a:r>
            <a:r>
              <a:rPr lang="en-US" b="1" dirty="0"/>
              <a:t>SQL DDL script</a:t>
            </a:r>
            <a:r>
              <a:rPr lang="en-US" dirty="0"/>
              <a:t> to manually create an "External Table." I used the </a:t>
            </a:r>
            <a:r>
              <a:rPr lang="en-US" b="1" dirty="0" err="1"/>
              <a:t>OpenCSVSerde</a:t>
            </a:r>
            <a:r>
              <a:rPr lang="en-US" dirty="0"/>
              <a:t> 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defined all columns as </a:t>
            </a:r>
            <a:r>
              <a:rPr lang="en-US" b="1" dirty="0"/>
              <a:t>STRING.</a:t>
            </a:r>
            <a:r>
              <a:rPr lang="en-US" dirty="0"/>
              <a:t> This was a strategic choice to handle "</a:t>
            </a:r>
            <a:r>
              <a:rPr lang="en-US" b="1" dirty="0"/>
              <a:t>dirty data" </a:t>
            </a:r>
            <a:r>
              <a:rPr lang="en-US" dirty="0"/>
              <a:t>(like empty coordinate fields) that was causing numeric parsing errors earlier.</a:t>
            </a:r>
          </a:p>
        </p:txBody>
      </p:sp>
    </p:spTree>
    <p:extLst>
      <p:ext uri="{BB962C8B-B14F-4D97-AF65-F5344CB8AC3E}">
        <p14:creationId xmlns:p14="http://schemas.microsoft.com/office/powerpoint/2010/main" val="360614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9C02-839F-2392-D096-34E7CCC7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Validation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1ABD26-51FA-2400-721F-81FFEF41E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9443" y="1690688"/>
            <a:ext cx="6690864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CEF0B8-BDBB-9BBC-CDF5-AD1BD3EFB2D1}"/>
              </a:ext>
            </a:extLst>
          </p:cNvPr>
          <p:cNvSpPr txBox="1"/>
          <p:nvPr/>
        </p:nvSpPr>
        <p:spPr>
          <a:xfrm>
            <a:off x="978195" y="1913859"/>
            <a:ext cx="42012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ran a </a:t>
            </a:r>
            <a:r>
              <a:rPr lang="en-US" b="1" dirty="0"/>
              <a:t>SELECT * LIMIT 10</a:t>
            </a:r>
            <a:r>
              <a:rPr lang="en-US" dirty="0"/>
              <a:t>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screenshot proves the fix worked! You can now see actual crime descriptions like "THEFT" and "DECEPTIVE PRACTICE."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confirmed that our </a:t>
            </a:r>
            <a:r>
              <a:rPr lang="en-US" b="1" dirty="0"/>
              <a:t>Schema-on-Read</a:t>
            </a:r>
            <a:r>
              <a:rPr lang="en-US" dirty="0"/>
              <a:t> was correctly mapped to the physical file in S3.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37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2B34-1E08-F851-501A-D30FD740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&amp; Density Analysis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6C36F-5CC3-8EE4-51A2-10987B9B7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2408" y="1297266"/>
            <a:ext cx="669086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6FE688-9BFB-C668-366A-3198E65A1AD4}"/>
              </a:ext>
            </a:extLst>
          </p:cNvPr>
          <p:cNvSpPr txBox="1"/>
          <p:nvPr/>
        </p:nvSpPr>
        <p:spPr>
          <a:xfrm>
            <a:off x="999460" y="2509283"/>
            <a:ext cx="37426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used the </a:t>
            </a:r>
            <a:r>
              <a:rPr lang="en-US" b="1" dirty="0"/>
              <a:t>COUNT</a:t>
            </a:r>
            <a:r>
              <a:rPr lang="en-US" dirty="0"/>
              <a:t> and </a:t>
            </a:r>
            <a:r>
              <a:rPr lang="en-US" b="1" dirty="0"/>
              <a:t>GROUP BY </a:t>
            </a:r>
            <a:r>
              <a:rPr lang="en-US" dirty="0"/>
              <a:t>functions to aggregate the data by crime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analysis identifies where the most pressure is on city resources. We discovered that </a:t>
            </a:r>
            <a:r>
              <a:rPr lang="en-US" b="1" dirty="0"/>
              <a:t>Theft</a:t>
            </a:r>
            <a:r>
              <a:rPr lang="en-US" dirty="0"/>
              <a:t> and </a:t>
            </a:r>
            <a:r>
              <a:rPr lang="en-US" b="1" dirty="0"/>
              <a:t>Battery</a:t>
            </a:r>
            <a:r>
              <a:rPr lang="en-US" dirty="0"/>
              <a:t> are the most frequent crimes in the dataset, totaling millions of records.</a:t>
            </a:r>
          </a:p>
        </p:txBody>
      </p:sp>
    </p:spTree>
    <p:extLst>
      <p:ext uri="{BB962C8B-B14F-4D97-AF65-F5344CB8AC3E}">
        <p14:creationId xmlns:p14="http://schemas.microsoft.com/office/powerpoint/2010/main" val="156228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2AF8-8560-FE83-EFAB-9DF56122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Analysis (Time Series)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0B8424-A4EC-F649-F8A1-4ACB78D1E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5118" y="1911350"/>
            <a:ext cx="6690864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EDFC1C-662B-B218-3C4D-6E6D86540836}"/>
              </a:ext>
            </a:extLst>
          </p:cNvPr>
          <p:cNvSpPr txBox="1"/>
          <p:nvPr/>
        </p:nvSpPr>
        <p:spPr>
          <a:xfrm>
            <a:off x="191387" y="2083981"/>
            <a:ext cx="46737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analyzed the crime volume per year from 2001 to the present.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shows the "Big Data" trend over time. It allows us to see if crime is trending up or down, which is essential for high-level policy making and historical reporting.</a:t>
            </a:r>
          </a:p>
        </p:txBody>
      </p:sp>
    </p:spTree>
    <p:extLst>
      <p:ext uri="{BB962C8B-B14F-4D97-AF65-F5344CB8AC3E}">
        <p14:creationId xmlns:p14="http://schemas.microsoft.com/office/powerpoint/2010/main" val="193187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CBEA-1977-3A48-B88C-65AF29BD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Metrics (KPIs)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F7DF7E-7690-7DDE-2AED-5D592492F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2268" y="1690688"/>
            <a:ext cx="6690864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E91589-A3EC-1466-3223-29E8CC3E78D8}"/>
              </a:ext>
            </a:extLst>
          </p:cNvPr>
          <p:cNvSpPr txBox="1"/>
          <p:nvPr/>
        </p:nvSpPr>
        <p:spPr>
          <a:xfrm>
            <a:off x="486383" y="1906620"/>
            <a:ext cx="41634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calculated the </a:t>
            </a:r>
            <a:r>
              <a:rPr lang="en-US" b="1" dirty="0"/>
              <a:t>Arrest Rate</a:t>
            </a:r>
            <a:r>
              <a:rPr lang="en-US" dirty="0"/>
              <a:t> percentage for each crime type using </a:t>
            </a:r>
            <a:r>
              <a:rPr lang="en-US" b="1" dirty="0"/>
              <a:t>CAST</a:t>
            </a:r>
            <a:r>
              <a:rPr lang="en-US" dirty="0"/>
              <a:t> and </a:t>
            </a:r>
            <a:r>
              <a:rPr lang="en-US" b="1" dirty="0"/>
              <a:t>SUM </a:t>
            </a:r>
            <a:r>
              <a:rPr lang="en-US" dirty="0"/>
              <a:t>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a key effectiveness metric. While some crimes like </a:t>
            </a:r>
            <a:r>
              <a:rPr lang="en-US" b="1" dirty="0"/>
              <a:t>"Narcotics"</a:t>
            </a:r>
            <a:r>
              <a:rPr lang="en-US" dirty="0"/>
              <a:t> have a near 100% arrest rate, others are much lower.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identifies where law enforcement is most (and least) successful in closing cases.</a:t>
            </a:r>
          </a:p>
        </p:txBody>
      </p:sp>
    </p:spTree>
    <p:extLst>
      <p:ext uri="{BB962C8B-B14F-4D97-AF65-F5344CB8AC3E}">
        <p14:creationId xmlns:p14="http://schemas.microsoft.com/office/powerpoint/2010/main" val="377275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9C5C1-0691-0540-CC52-BAEBF644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Visualization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A6DF2A-4D60-EFC2-29C3-B61BEA027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Bar Chart (Top Crimes)</a:t>
            </a: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 descr="A graph with orange bars&#10;&#10;AI-generated content may be incorrect.">
            <a:extLst>
              <a:ext uri="{FF2B5EF4-FFF2-40B4-BE49-F238E27FC236}">
                <a16:creationId xmlns:a16="http://schemas.microsoft.com/office/drawing/2014/main" id="{233753CA-6287-EB0C-7623-1EE9D3FF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2086751"/>
            <a:ext cx="5708649" cy="265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76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5268E-45F3-706A-6F64-F8A31B55C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Visualization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73D73E-1745-5AEE-92F8-155CAE1BA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 Chart (Crimes by Year)</a:t>
            </a: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EB3429F7-E905-9146-CD2F-03BE46AC2D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65" r="1" b="1"/>
          <a:stretch/>
        </p:blipFill>
        <p:spPr>
          <a:xfrm>
            <a:off x="5895751" y="2148798"/>
            <a:ext cx="5708649" cy="253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99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BF506-DDDF-3C55-42DA-D3DA0A8A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Visualization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BA0630-AD38-1814-626C-E860AE354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 Chart (Total Arrests)</a:t>
            </a: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 descr="A pie chart with text&#10;&#10;AI-generated content may be incorrect.">
            <a:extLst>
              <a:ext uri="{FF2B5EF4-FFF2-40B4-BE49-F238E27FC236}">
                <a16:creationId xmlns:a16="http://schemas.microsoft.com/office/drawing/2014/main" id="{01240EA6-DBF3-FDAA-3C14-C6ED30870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655"/>
          <a:stretch/>
        </p:blipFill>
        <p:spPr>
          <a:xfrm>
            <a:off x="5895751" y="1509750"/>
            <a:ext cx="5708649" cy="380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89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8460-E7F5-6E4F-08B2-88454336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 Serverless Analytics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3CE712-1158-AF32-18D7-7D8EC2482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5143" y="1939925"/>
            <a:ext cx="6690864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E42E6E-04B1-BBF1-054D-9F0037F52B27}"/>
              </a:ext>
            </a:extLst>
          </p:cNvPr>
          <p:cNvSpPr txBox="1"/>
          <p:nvPr/>
        </p:nvSpPr>
        <p:spPr>
          <a:xfrm>
            <a:off x="933855" y="2062263"/>
            <a:ext cx="3599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successfully built a </a:t>
            </a:r>
            <a:r>
              <a:rPr lang="en-US" b="1" dirty="0"/>
              <a:t>Serverless Pipeline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using </a:t>
            </a:r>
            <a:r>
              <a:rPr lang="en-US" b="1" dirty="0"/>
              <a:t>S3, Glue, and Athena, </a:t>
            </a:r>
            <a:r>
              <a:rPr lang="en-US" dirty="0"/>
              <a:t>we processed millions of rows of data without ever having to manage a single server or database instance. </a:t>
            </a:r>
          </a:p>
        </p:txBody>
      </p:sp>
    </p:spTree>
    <p:extLst>
      <p:ext uri="{BB962C8B-B14F-4D97-AF65-F5344CB8AC3E}">
        <p14:creationId xmlns:p14="http://schemas.microsoft.com/office/powerpoint/2010/main" val="4018277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9E5E80-6220-14B1-B060-AB73ACEAD9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069" b="64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21AFC-61E2-E26E-4F01-0CB5866B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97E9A4-6790-0B61-4236-DC73F30C7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6258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4938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650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Big Data Analysis of Chicago Crime Records</vt:lpstr>
      <vt:lpstr>Data Storage &amp; The Data Lake Concept </vt:lpstr>
      <vt:lpstr>Metadata Discovery &amp; Automation</vt:lpstr>
      <vt:lpstr>Troubleshooting Real-World Data</vt:lpstr>
      <vt:lpstr>Data Engineering &amp; Serialization</vt:lpstr>
      <vt:lpstr>Data Validation</vt:lpstr>
      <vt:lpstr>Frequency &amp; Density Analysis</vt:lpstr>
      <vt:lpstr>Temporal Analysis (Time Series)</vt:lpstr>
      <vt:lpstr>Performance Metrics (KPIs) </vt:lpstr>
      <vt:lpstr>Data Visualization </vt:lpstr>
      <vt:lpstr>Data Visualization </vt:lpstr>
      <vt:lpstr>Data Visualization </vt:lpstr>
      <vt:lpstr>Conclusion: Serverless Analytics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Charishma Katta</dc:creator>
  <cp:lastModifiedBy>Charishma Katta</cp:lastModifiedBy>
  <cp:revision>11</cp:revision>
  <dcterms:created xsi:type="dcterms:W3CDTF">2026-02-20T19:15:11Z</dcterms:created>
  <dcterms:modified xsi:type="dcterms:W3CDTF">2026-09-29T20:27:25Z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ae119f0-38a6-40fc-810e-ef21eb0d5778_Enabled">
    <vt:lpwstr>true</vt:lpwstr>
  </property>
  <property fmtid="{D5CDD505-2E9C-101B-9397-08002B2CF9AE}" pid="3" name="MSIP_Label_9ae119f0-38a6-40fc-810e-ef21eb0d5778_SetDate">
    <vt:lpwstr>2026-02-20T19:18:02Z</vt:lpwstr>
  </property>
  <property fmtid="{D5CDD505-2E9C-101B-9397-08002B2CF9AE}" pid="4" name="MSIP_Label_9ae119f0-38a6-40fc-810e-ef21eb0d5778_Method">
    <vt:lpwstr>Privileged</vt:lpwstr>
  </property>
  <property fmtid="{D5CDD505-2E9C-101B-9397-08002B2CF9AE}" pid="5" name="MSIP_Label_9ae119f0-38a6-40fc-810e-ef21eb0d5778_Name">
    <vt:lpwstr>defa4170-0d19-0005-0004-bc88714345d2</vt:lpwstr>
  </property>
  <property fmtid="{D5CDD505-2E9C-101B-9397-08002B2CF9AE}" pid="6" name="MSIP_Label_9ae119f0-38a6-40fc-810e-ef21eb0d5778_SiteId">
    <vt:lpwstr>51099f15-499b-44d5-a287-ac53ac263895</vt:lpwstr>
  </property>
  <property fmtid="{D5CDD505-2E9C-101B-9397-08002B2CF9AE}" pid="7" name="MSIP_Label_9ae119f0-38a6-40fc-810e-ef21eb0d5778_ActionId">
    <vt:lpwstr>272c4ba5-3fb3-4b5c-9502-6f1b7ef51984</vt:lpwstr>
  </property>
  <property fmtid="{D5CDD505-2E9C-101B-9397-08002B2CF9AE}" pid="8" name="MSIP_Label_9ae119f0-38a6-40fc-810e-ef21eb0d5778_ContentBits">
    <vt:lpwstr>0</vt:lpwstr>
  </property>
  <property fmtid="{D5CDD505-2E9C-101B-9397-08002B2CF9AE}" pid="9" name="MSIP_Label_9ae119f0-38a6-40fc-810e-ef21eb0d5778_Tag">
    <vt:lpwstr>50, 0, 1, 1</vt:lpwstr>
  </property>
</Properties>
</file>